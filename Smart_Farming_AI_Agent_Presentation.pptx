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90" r:id="rId2"/>
    <p:sldId id="291" r:id="rId3"/>
    <p:sldId id="292" r:id="rId4"/>
    <p:sldId id="293" r:id="rId5"/>
    <p:sldId id="294" r:id="rId6"/>
    <p:sldId id="295" r:id="rId7"/>
    <p:sldId id="296" r:id="rId8"/>
    <p:sldId id="297" r:id="rId9"/>
    <p:sldId id="298" r:id="rId10"/>
    <p:sldId id="299" r:id="rId11"/>
    <p:sldId id="301" r:id="rId12"/>
    <p:sldId id="302" r:id="rId13"/>
    <p:sldId id="303" r:id="rId14"/>
    <p:sldId id="304" r:id="rId15"/>
    <p:sldId id="305" r:id="rId16"/>
    <p:sldId id="306" r:id="rId17"/>
    <p:sldId id="307" r:id="rId18"/>
    <p:sldId id="308" r:id="rId19"/>
    <p:sldId id="309"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CE8BEA-0210-C150-5C83-1CC9C2E75528}" v="6" dt="2026-10-01T08:26:55.08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301"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4028444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Bhuvnesh Kumar Jangid</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bhavaskumar07@gmail.com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7410808368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pPr marL="0" indent="0">
              <a:spcBef>
                <a:spcPts val="0"/>
              </a:spcBef>
              <a:spcAft>
                <a:spcPts val="0"/>
              </a:spcAft>
              <a:buNone/>
            </a:pPr>
            <a:r>
              <a:rPr lang="en-US" sz="2400" b="1"/>
              <a:t>Domain of Project – Agriculture</a:t>
            </a: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pPr marL="0" indent="0">
              <a:spcBef>
                <a:spcPts val="0"/>
              </a:spcBef>
              <a:spcAft>
                <a:spcPts val="0"/>
              </a:spcAft>
              <a:buNone/>
            </a:pPr>
            <a:r>
              <a:rPr lang="en-US" sz="2400" b="1"/>
              <a:t>Project Title – Smart Farming AI Agent</a:t>
            </a:r>
          </a:p>
        </p:txBody>
      </p:sp>
      <p:pic>
        <p:nvPicPr>
          <p:cNvPr id="3" name="Picture 2">
            <a:extLst>
              <a:ext uri="{FF2B5EF4-FFF2-40B4-BE49-F238E27FC236}">
                <a16:creationId xmlns:a16="http://schemas.microsoft.com/office/drawing/2014/main" id="{EF6CAEEC-AE5E-7007-4952-102A853FDE88}"/>
              </a:ext>
            </a:extLst>
          </p:cNvPr>
          <p:cNvPicPr>
            <a:picLocks noChangeAspect="1"/>
          </p:cNvPicPr>
          <p:nvPr/>
        </p:nvPicPr>
        <p:blipFill>
          <a:blip r:embed="rId3"/>
          <a:stretch>
            <a:fillRect/>
          </a:stretch>
        </p:blipFill>
        <p:spPr>
          <a:xfrm>
            <a:off x="3891437" y="3602563"/>
            <a:ext cx="1054189" cy="1155902"/>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00000"/>
          </a:xfrm>
          <a:prstGeom prst="rect">
            <a:avLst/>
          </a:prstGeom>
          <a:noFill/>
        </p:spPr>
        <p:txBody>
          <a:bodyPr wrap="square" rtlCol="0">
            <a:spAutoFit/>
          </a:bodyPr>
          <a:lstStyle/>
          <a:p>
            <a:pPr marL="0" indent="0">
              <a:spcBef>
                <a:spcPts val="0"/>
              </a:spcBef>
              <a:spcAft>
                <a:spcPts val="600"/>
              </a:spcAft>
              <a:buNone/>
            </a:pPr>
            <a:r>
              <a:rPr lang="en-US" sz="1600" b="1"/>
              <a:t>Problem Statement No. 14: AI Agent for Smart Farming Advice</a:t>
            </a:r>
          </a:p>
          <a:p>
            <a:pPr marL="0" indent="0">
              <a:spcBef>
                <a:spcPts val="0"/>
              </a:spcBef>
              <a:spcAft>
                <a:spcPts val="200"/>
              </a:spcAft>
              <a:buNone/>
            </a:pPr>
            <a:r>
              <a:rPr lang="en-US" sz="1600" b="1"/>
              <a:t>The Challenge</a:t>
            </a:r>
          </a:p>
          <a:p>
            <a:pPr marL="0" indent="0">
              <a:spcBef>
                <a:spcPts val="0"/>
              </a:spcBef>
              <a:spcAft>
                <a:spcPts val="600"/>
              </a:spcAft>
              <a:buNone/>
            </a:pPr>
            <a:r>
              <a:rPr lang="en-US" sz="1600" b="0"/>
              <a:t>Farmers often struggle with </a:t>
            </a:r>
            <a:r>
              <a:rPr lang="en-US" sz="1600" b="1"/>
              <a:t>low crop yield, unpredictable weather, pest infestations, and limited access to timely expert advice</a:t>
            </a:r>
            <a:r>
              <a:rPr lang="en-US" sz="1600" b="0"/>
              <a:t>. Traditional advisory services are fragmented, slow, and not personalized to the farmer's land, crop, or climate. With climate change, </a:t>
            </a:r>
            <a:r>
              <a:rPr lang="en-US" sz="1600" b="1"/>
              <a:t>data-driven smart farming</a:t>
            </a:r>
            <a:r>
              <a:rPr lang="en-US" sz="1600" b="0"/>
              <a:t> is needed to give farmers actionable insights.</a:t>
            </a:r>
          </a:p>
          <a:p>
            <a:pPr marL="0" indent="0">
              <a:spcBef>
                <a:spcPts val="0"/>
              </a:spcBef>
              <a:spcAft>
                <a:spcPts val="200"/>
              </a:spcAft>
              <a:buNone/>
            </a:pPr>
            <a:r>
              <a:rPr lang="en-US" sz="1600" b="1"/>
              <a:t>The Objective</a:t>
            </a:r>
          </a:p>
          <a:p>
            <a:pPr marL="0" indent="0">
              <a:spcBef>
                <a:spcPts val="0"/>
              </a:spcBef>
              <a:spcAft>
                <a:spcPts val="200"/>
              </a:spcAft>
              <a:buNone/>
            </a:pPr>
            <a:r>
              <a:rPr lang="en-US" sz="1600" b="0"/>
              <a:t>Build an </a:t>
            </a:r>
            <a:r>
              <a:rPr lang="en-US" sz="1600" b="1"/>
              <a:t>AI-powered Smart Farming Agent</a:t>
            </a:r>
            <a:r>
              <a:rPr lang="en-US" sz="1600" b="0"/>
              <a:t> that gives </a:t>
            </a:r>
            <a:r>
              <a:rPr lang="en-US" sz="1600" b="1"/>
              <a:t>personalized, real-time, and sustainable agricultural advice</a:t>
            </a:r>
            <a:r>
              <a:rPr lang="en-US" sz="1600" b="0"/>
              <a:t>. The solution should:</a:t>
            </a:r>
          </a:p>
          <a:p>
            <a:pPr marL="285750" indent="-285750">
              <a:spcBef>
                <a:spcPts val="0"/>
              </a:spcBef>
              <a:spcAft>
                <a:spcPts val="200"/>
              </a:spcAft>
              <a:buFont typeface="Arial"/>
              <a:buChar char="•"/>
            </a:pPr>
            <a:r>
              <a:rPr lang="en-US" sz="1600" b="1"/>
              <a:t>Agricultural Knowledge Retrieval (RAG)</a:t>
            </a:r>
            <a:r>
              <a:rPr lang="en-US" sz="1600" b="0"/>
              <a:t> – best practices, crop guidelines, and government advisories.</a:t>
            </a:r>
          </a:p>
          <a:p>
            <a:pPr marL="285750" indent="-285750">
              <a:spcBef>
                <a:spcPts val="0"/>
              </a:spcBef>
              <a:spcAft>
                <a:spcPts val="200"/>
              </a:spcAft>
              <a:buFont typeface="Arial"/>
              <a:buChar char="•"/>
            </a:pPr>
            <a:r>
              <a:rPr lang="en-US" sz="1600" b="1"/>
              <a:t>Weather &amp; Soil Insights</a:t>
            </a:r>
            <a:r>
              <a:rPr lang="en-US" sz="1600" b="0"/>
              <a:t> – real-time forecasts, soil data, and irrigation needs for farm planning.</a:t>
            </a:r>
          </a:p>
          <a:p>
            <a:pPr marL="285750" indent="-285750">
              <a:spcBef>
                <a:spcPts val="0"/>
              </a:spcBef>
              <a:spcAft>
                <a:spcPts val="200"/>
              </a:spcAft>
              <a:buFont typeface="Arial"/>
              <a:buChar char="•"/>
            </a:pPr>
            <a:r>
              <a:rPr lang="en-US" sz="1600" b="1"/>
              <a:t>Pest &amp; Disease Detection</a:t>
            </a:r>
            <a:r>
              <a:rPr lang="en-US" sz="1600" b="0"/>
              <a:t> – farmers upload crop images for early identification and instant recommendations.</a:t>
            </a:r>
          </a:p>
          <a:p>
            <a:pPr marL="285750" indent="-285750">
              <a:spcBef>
                <a:spcPts val="0"/>
              </a:spcBef>
              <a:spcAft>
                <a:spcPts val="200"/>
              </a:spcAft>
              <a:buFont typeface="Arial"/>
              <a:buChar char="•"/>
            </a:pPr>
            <a:r>
              <a:rPr lang="en-US" sz="1600" b="1"/>
              <a:t>Personalized Advisory Agent</a:t>
            </a:r>
            <a:r>
              <a:rPr lang="en-US" sz="1600" b="0"/>
              <a:t> – seeds, fertilizers, irrigation schedules, and harvest timelines for the farmer's profile.</a:t>
            </a:r>
          </a:p>
          <a:p>
            <a:pPr marL="285750" indent="-285750">
              <a:spcBef>
                <a:spcPts val="0"/>
              </a:spcBef>
              <a:spcAft>
                <a:spcPts val="200"/>
              </a:spcAft>
              <a:buFont typeface="Arial"/>
              <a:buChar char="•"/>
            </a:pPr>
            <a:r>
              <a:rPr lang="en-US" sz="1600" b="1"/>
              <a:t>Market &amp; Cost Optimization</a:t>
            </a:r>
            <a:r>
              <a:rPr lang="en-US" sz="1600" b="0"/>
              <a:t> – forecast demand, suggest market prices, and recommend cost-efficient practices.</a:t>
            </a:r>
          </a:p>
          <a:p>
            <a:pPr marL="285750" indent="-285750">
              <a:spcBef>
                <a:spcPts val="0"/>
              </a:spcBef>
              <a:spcAft>
                <a:spcPts val="0"/>
              </a:spcAft>
              <a:buFont typeface="Arial"/>
              <a:buChar char="•"/>
            </a:pPr>
            <a:r>
              <a:rPr lang="en-US" sz="1600" b="1"/>
              <a:t>Multi-Agent Collaboration</a:t>
            </a:r>
            <a:r>
              <a:rPr lang="en-US" sz="1600" b="0"/>
              <a:t> – Crop Advisory, Weather &amp; Irrigation, Pest/Disease Detection, and Market Insights agents.</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300000"/>
          </a:xfrm>
          <a:prstGeom prst="rect">
            <a:avLst/>
          </a:prstGeom>
          <a:noFill/>
        </p:spPr>
        <p:txBody>
          <a:bodyPr wrap="square" rtlCol="0">
            <a:spAutoFit/>
          </a:bodyPr>
          <a:lstStyle/>
          <a:p>
            <a:pPr marL="0" indent="0">
              <a:spcBef>
                <a:spcPts val="0"/>
              </a:spcBef>
              <a:spcAft>
                <a:spcPts val="300"/>
              </a:spcAft>
              <a:buNone/>
            </a:pPr>
            <a:r>
              <a:rPr lang="en-US" sz="1600" b="1"/>
              <a:t>Proposed Solution: Smart Farming AI Agent</a:t>
            </a:r>
          </a:p>
          <a:p>
            <a:pPr marL="0" indent="0">
              <a:spcBef>
                <a:spcPts val="0"/>
              </a:spcBef>
              <a:spcAft>
                <a:spcPts val="400"/>
              </a:spcAft>
              <a:buNone/>
            </a:pPr>
            <a:r>
              <a:rPr lang="en-US" sz="1600" b="0"/>
              <a:t>A multi-agent AI system built with </a:t>
            </a:r>
            <a:r>
              <a:rPr lang="en-US" sz="1600" b="1"/>
              <a:t>IBM Bob, IBM watsonx.ai, and IBM Granite</a:t>
            </a:r>
            <a:r>
              <a:rPr lang="en-US" sz="1600" b="0"/>
              <a:t> that gives farmers personalized, real-time advice in Hindi and English through a simple dashboard. An </a:t>
            </a:r>
            <a:r>
              <a:rPr lang="en-US" sz="1600" b="1"/>
              <a:t>Orchestrator Agent</a:t>
            </a:r>
            <a:r>
              <a:rPr lang="en-US" sz="1600" b="0"/>
              <a:t> understands each question, routes it to the right specialist agents, and merges their outputs into one clear answer.</a:t>
            </a:r>
          </a:p>
          <a:p>
            <a:pPr marL="0" indent="0">
              <a:spcBef>
                <a:spcPts val="0"/>
              </a:spcBef>
              <a:spcAft>
                <a:spcPts val="400"/>
              </a:spcAft>
              <a:buNone/>
            </a:pPr>
            <a:r>
              <a:rPr lang="en-US" sz="1600" b="0"/>
              <a:t>A </a:t>
            </a:r>
            <a:r>
              <a:rPr lang="en-US" sz="1600" b="1"/>
              <a:t>Retrieval-Augmented Generation (RAG)</a:t>
            </a:r>
            <a:r>
              <a:rPr lang="en-US" sz="1600" b="0"/>
              <a:t> pipeline stores crop guides and government advisories in a ChromaDB vector database. Relevant passages are retrieved first and Granite summarizes them with source citations, so answers stay grounded in real data.</a:t>
            </a:r>
          </a:p>
          <a:p>
            <a:pPr marL="0" indent="0">
              <a:spcBef>
                <a:spcPts val="0"/>
              </a:spcBef>
              <a:spcAft>
                <a:spcPts val="200"/>
              </a:spcAft>
              <a:buNone/>
            </a:pPr>
            <a:r>
              <a:rPr lang="en-US" sz="1600" b="0"/>
              <a:t>The system consists of five agents:</a:t>
            </a:r>
          </a:p>
          <a:p>
            <a:pPr marL="285750" indent="-285750">
              <a:spcBef>
                <a:spcPts val="0"/>
              </a:spcBef>
              <a:spcAft>
                <a:spcPts val="150"/>
              </a:spcAft>
              <a:buFont typeface="Arial"/>
              <a:buChar char="•"/>
            </a:pPr>
            <a:r>
              <a:rPr lang="en-US" sz="1600" b="1"/>
              <a:t>Crop Advisory Agent</a:t>
            </a:r>
            <a:r>
              <a:rPr lang="en-US" sz="1600" b="0"/>
              <a:t> – RAG over crop guides; answers questions with citations.</a:t>
            </a:r>
          </a:p>
          <a:p>
            <a:pPr marL="285750" indent="-285750">
              <a:spcBef>
                <a:spcPts val="0"/>
              </a:spcBef>
              <a:spcAft>
                <a:spcPts val="150"/>
              </a:spcAft>
              <a:buFont typeface="Arial"/>
              <a:buChar char="•"/>
            </a:pPr>
            <a:r>
              <a:rPr lang="en-US" sz="1600" b="1"/>
              <a:t>Weather &amp; Irrigation Agent</a:t>
            </a:r>
            <a:r>
              <a:rPr lang="en-US" sz="1600" b="0"/>
              <a:t> – turns the Open-Meteo forecast into irrigation and farm-planning tips.</a:t>
            </a:r>
          </a:p>
          <a:p>
            <a:pPr marL="285750" indent="-285750">
              <a:spcBef>
                <a:spcPts val="0"/>
              </a:spcBef>
              <a:spcAft>
                <a:spcPts val="150"/>
              </a:spcAft>
              <a:buFont typeface="Arial"/>
              <a:buChar char="•"/>
            </a:pPr>
            <a:r>
              <a:rPr lang="en-US" sz="1600" b="1"/>
              <a:t>Pest Detection Agent</a:t>
            </a:r>
            <a:r>
              <a:rPr lang="en-US" sz="1600" b="0"/>
              <a:t> – analyses an uploaded leaf photo, identifies the problem, and suggests treatment (organic options first).</a:t>
            </a:r>
          </a:p>
          <a:p>
            <a:pPr marL="285750" indent="-285750">
              <a:spcBef>
                <a:spcPts val="0"/>
              </a:spcBef>
              <a:spcAft>
                <a:spcPts val="150"/>
              </a:spcAft>
              <a:buFont typeface="Arial"/>
              <a:buChar char="•"/>
            </a:pPr>
            <a:r>
              <a:rPr lang="en-US" sz="1600" b="1"/>
              <a:t>Market Insights Agent</a:t>
            </a:r>
            <a:r>
              <a:rPr lang="en-US" sz="1600" b="0"/>
              <a:t> – mandi price trends and selling-time suggestions.</a:t>
            </a:r>
          </a:p>
          <a:p>
            <a:pPr marL="285750" indent="-285750">
              <a:spcBef>
                <a:spcPts val="0"/>
              </a:spcBef>
              <a:spcAft>
                <a:spcPts val="400"/>
              </a:spcAft>
              <a:buFont typeface="Arial"/>
              <a:buChar char="•"/>
            </a:pPr>
            <a:r>
              <a:rPr lang="en-US" sz="1600" b="1"/>
              <a:t>Personalised Advisory Agent</a:t>
            </a:r>
            <a:r>
              <a:rPr lang="en-US" sz="1600" b="0"/>
              <a:t> – a full season plan from location, land size, soil, crop, and season.</a:t>
            </a:r>
          </a:p>
          <a:p>
            <a:pPr marL="0" indent="0">
              <a:spcBef>
                <a:spcPts val="0"/>
              </a:spcBef>
              <a:spcAft>
                <a:spcPts val="0"/>
              </a:spcAft>
              <a:buNone/>
            </a:pPr>
            <a:r>
              <a:rPr lang="en-US" sz="1600" b="0"/>
              <a:t>The </a:t>
            </a:r>
            <a:r>
              <a:rPr lang="en-US" sz="1600" b="1"/>
              <a:t>Streamlit dashboard</a:t>
            </a:r>
            <a:r>
              <a:rPr lang="en-US" sz="1600" b="0"/>
              <a:t> shows the farm profile, 7-day weather, irrigation advice, mandi price charts, and a chat box with image upload and voice input. Chemical advice carries safety disclaimers, and low-confidence answers point to the local KVK and Kisan Call Centre.</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400000"/>
          </a:xfrm>
          <a:prstGeom prst="rect">
            <a:avLst/>
          </a:prstGeom>
          <a:noFill/>
        </p:spPr>
        <p:txBody>
          <a:bodyPr wrap="square" rtlCol="0">
            <a:spAutoFit/>
          </a:bodyPr>
          <a:lstStyle/>
          <a:p>
            <a:pPr marL="285750" indent="-285750">
              <a:spcBef>
                <a:spcPts val="0"/>
              </a:spcBef>
              <a:spcAft>
                <a:spcPts val="900"/>
              </a:spcAft>
              <a:buFont typeface="Arial"/>
              <a:buChar char="•"/>
            </a:pPr>
            <a:r>
              <a:rPr lang="en-US" sz="1600" b="1"/>
              <a:t>IBM Bob</a:t>
            </a:r>
            <a:r>
              <a:rPr lang="en-US" sz="1600" b="0"/>
              <a:t> – AI development partner used to generate and refine the agents, backend, and dashboard code</a:t>
            </a:r>
          </a:p>
          <a:p>
            <a:pPr marL="285750" indent="-285750">
              <a:spcBef>
                <a:spcPts val="0"/>
              </a:spcBef>
              <a:spcAft>
                <a:spcPts val="900"/>
              </a:spcAft>
              <a:buFont typeface="Arial"/>
              <a:buChar char="•"/>
            </a:pPr>
            <a:r>
              <a:rPr lang="en-US" sz="1600" b="1"/>
              <a:t>IBM Granite models</a:t>
            </a:r>
            <a:r>
              <a:rPr lang="en-US" sz="1600" b="0"/>
              <a:t> – via watsonx.ai, for reasoning, summarization, and multilingual (Hindi / English) advice</a:t>
            </a:r>
          </a:p>
          <a:p>
            <a:pPr marL="285750" indent="-285750">
              <a:spcBef>
                <a:spcPts val="0"/>
              </a:spcBef>
              <a:spcAft>
                <a:spcPts val="900"/>
              </a:spcAft>
              <a:buFont typeface="Arial"/>
              <a:buChar char="•"/>
            </a:pPr>
            <a:r>
              <a:rPr lang="en-US" sz="1600" b="1"/>
              <a:t>IBM watsonx.ai</a:t>
            </a:r>
            <a:r>
              <a:rPr lang="en-US" sz="1600" b="0"/>
              <a:t> – hosted Granite inference (model ID configured in .env)</a:t>
            </a:r>
          </a:p>
          <a:p>
            <a:pPr marL="285750" indent="-285750">
              <a:spcBef>
                <a:spcPts val="0"/>
              </a:spcBef>
              <a:spcAft>
                <a:spcPts val="900"/>
              </a:spcAft>
              <a:buFont typeface="Arial"/>
              <a:buChar char="•"/>
            </a:pPr>
            <a:r>
              <a:rPr lang="en-US" sz="1600" b="1"/>
              <a:t>IBM Cloud</a:t>
            </a:r>
            <a:r>
              <a:rPr lang="en-US" sz="1600" b="0"/>
              <a:t> – Docker and Code Engine deployment to run the agent in a reliable, scalable environment</a:t>
            </a:r>
          </a:p>
          <a:p>
            <a:pPr marL="285750" indent="-285750">
              <a:spcBef>
                <a:spcPts val="0"/>
              </a:spcBef>
              <a:spcAft>
                <a:spcPts val="900"/>
              </a:spcAft>
              <a:buFont typeface="Arial"/>
              <a:buChar char="•"/>
            </a:pPr>
            <a:r>
              <a:rPr lang="en-US" sz="1600" b="1"/>
              <a:t>RAG + ChromaDB</a:t>
            </a:r>
            <a:r>
              <a:rPr lang="en-US" sz="1600" b="0"/>
              <a:t> – crop guides embedded (sentence-transformers) and stored in a vector database; real data is fetched first, then answers are generated</a:t>
            </a:r>
          </a:p>
          <a:p>
            <a:pPr marL="285750" indent="-285750">
              <a:spcBef>
                <a:spcPts val="0"/>
              </a:spcBef>
              <a:spcAft>
                <a:spcPts val="900"/>
              </a:spcAft>
              <a:buFont typeface="Arial"/>
              <a:buChar char="•"/>
            </a:pPr>
            <a:r>
              <a:rPr lang="en-US" sz="1600" b="1"/>
              <a:t>FastAPI + Streamlit</a:t>
            </a:r>
            <a:r>
              <a:rPr lang="en-US" sz="1600" b="0"/>
              <a:t> – Python backend with orchestrator and agents, plus a farmer-friendly dashboard</a:t>
            </a:r>
          </a:p>
          <a:p>
            <a:pPr marL="285750" indent="-285750">
              <a:spcBef>
                <a:spcPts val="0"/>
              </a:spcBef>
              <a:spcAft>
                <a:spcPts val="900"/>
              </a:spcAft>
              <a:buFont typeface="Arial"/>
              <a:buChar char="•"/>
            </a:pPr>
            <a:r>
              <a:rPr lang="en-US" sz="1600" b="1"/>
              <a:t>Data sources and models</a:t>
            </a:r>
            <a:r>
              <a:rPr lang="en-US" sz="1600" b="0"/>
              <a:t> – Open-Meteo weather API, mandi price data, ResNet-18 trained on PlantVillage (PyTorch) for leaf disease detection</a:t>
            </a:r>
          </a:p>
          <a:p>
            <a:pPr marL="285750" indent="-285750">
              <a:spcBef>
                <a:spcPts val="0"/>
              </a:spcBef>
              <a:spcAft>
                <a:spcPts val="900"/>
              </a:spcAft>
              <a:buFont typeface="Arial"/>
              <a:buChar char="•"/>
            </a:pPr>
            <a:r>
              <a:rPr lang="en-US" sz="1600" b="1"/>
              <a:t>deep-translator + SpeechRecognition</a:t>
            </a:r>
            <a:r>
              <a:rPr lang="en-US" sz="1600" b="0"/>
              <a:t> – Hindi / English translation and voice input</a:t>
            </a:r>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2950000" cy="4200000"/>
          </a:xfrm>
          <a:prstGeom prst="rect">
            <a:avLst/>
          </a:prstGeom>
          <a:noFill/>
        </p:spPr>
        <p:txBody>
          <a:bodyPr wrap="square" rtlCol="0">
            <a:spAutoFit/>
          </a:bodyPr>
          <a:lstStyle/>
          <a:p>
            <a:pPr marL="342900" indent="-342900">
              <a:spcBef>
                <a:spcPts val="0"/>
              </a:spcBef>
              <a:spcAft>
                <a:spcPts val="900"/>
              </a:spcAft>
              <a:buFont typeface="+mj-lt"/>
              <a:buAutoNum type="arabicPeriod"/>
            </a:pPr>
            <a:r>
              <a:rPr lang="en-US" sz="1400" b="0"/>
              <a:t>backend/main.py</a:t>
            </a:r>
          </a:p>
          <a:p>
            <a:pPr marL="342900" indent="-342900">
              <a:spcBef>
                <a:spcPts val="0"/>
              </a:spcBef>
              <a:spcAft>
                <a:spcPts val="900"/>
              </a:spcAft>
              <a:buFont typeface="+mj-lt"/>
              <a:buAutoNum type="arabicPeriod"/>
            </a:pPr>
            <a:r>
              <a:rPr lang="en-US" sz="1400" b="0"/>
              <a:t>backend/agents/</a:t>
            </a:r>
          </a:p>
          <a:p>
            <a:pPr marL="342900" indent="-342900">
              <a:spcBef>
                <a:spcPts val="0"/>
              </a:spcBef>
              <a:spcAft>
                <a:spcPts val="900"/>
              </a:spcAft>
              <a:buFont typeface="+mj-lt"/>
              <a:buAutoNum type="arabicPeriod"/>
            </a:pPr>
            <a:r>
              <a:rPr lang="en-US" sz="1400" b="0"/>
              <a:t>backend/tools/granite_client.py</a:t>
            </a:r>
          </a:p>
          <a:p>
            <a:pPr marL="342900" indent="-342900">
              <a:spcBef>
                <a:spcPts val="0"/>
              </a:spcBef>
              <a:spcAft>
                <a:spcPts val="900"/>
              </a:spcAft>
              <a:buFont typeface="+mj-lt"/>
              <a:buAutoNum type="arabicPeriod"/>
            </a:pPr>
            <a:r>
              <a:rPr lang="en-US" sz="1400" b="0"/>
              <a:t>frontend/app.py</a:t>
            </a:r>
          </a:p>
          <a:p>
            <a:pPr marL="342900" indent="-342900">
              <a:spcBef>
                <a:spcPts val="0"/>
              </a:spcBef>
              <a:spcAft>
                <a:spcPts val="900"/>
              </a:spcAft>
              <a:buFont typeface="+mj-lt"/>
              <a:buAutoNum type="arabicPeriod"/>
            </a:pPr>
            <a:r>
              <a:rPr lang="en-US" sz="1400" b="0"/>
              <a:t>scripts/ingest_docs.py</a:t>
            </a:r>
          </a:p>
          <a:p>
            <a:pPr marL="342900" indent="-342900">
              <a:spcBef>
                <a:spcPts val="0"/>
              </a:spcBef>
              <a:spcAft>
                <a:spcPts val="900"/>
              </a:spcAft>
              <a:buFont typeface="+mj-lt"/>
              <a:buAutoNum type="arabicPeriod"/>
            </a:pPr>
            <a:r>
              <a:rPr lang="en-US" sz="1400" b="0"/>
              <a:t>requirements.txt</a:t>
            </a:r>
          </a:p>
          <a:p>
            <a:pPr marL="342900" indent="-342900">
              <a:spcBef>
                <a:spcPts val="0"/>
              </a:spcBef>
              <a:spcAft>
                <a:spcPts val="900"/>
              </a:spcAft>
              <a:buFont typeface="+mj-lt"/>
              <a:buAutoNum type="arabicPeriod"/>
            </a:pPr>
            <a:r>
              <a:rPr lang="en-US" sz="1400" b="0"/>
              <a:t>.env.example</a:t>
            </a:r>
          </a:p>
          <a:p>
            <a:pPr marL="342900" indent="-342900">
              <a:spcBef>
                <a:spcPts val="0"/>
              </a:spcBef>
              <a:spcAft>
                <a:spcPts val="900"/>
              </a:spcAft>
              <a:buFont typeface="+mj-lt"/>
              <a:buAutoNum type="arabicPeriod"/>
            </a:pPr>
            <a:r>
              <a:rPr lang="en-US" sz="1400" b="0"/>
              <a:t>deployment/ (Docker)</a:t>
            </a:r>
          </a:p>
        </p:txBody>
      </p:sp>
      <p:sp>
        <p:nvSpPr>
          <p:cNvPr id="9" name="Rectangle 8">
            <a:extLst>
              <a:ext uri="{FF2B5EF4-FFF2-40B4-BE49-F238E27FC236}">
                <a16:creationId xmlns:a16="http://schemas.microsoft.com/office/drawing/2014/main" id="{6FFF7BC6-93D0-8D42-34B7-C226B1B96C2D}"/>
              </a:ext>
            </a:extLst>
          </p:cNvPr>
          <p:cNvSpPr/>
          <p:nvPr/>
        </p:nvSpPr>
        <p:spPr>
          <a:xfrm>
            <a:off x="4013862" y="1690157"/>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EF017559-F4AE-6934-B768-5FC1764763DB}"/>
              </a:ext>
            </a:extLst>
          </p:cNvPr>
          <p:cNvPicPr>
            <a:picLocks noChangeAspect="1"/>
          </p:cNvPicPr>
          <p:nvPr/>
        </p:nvPicPr>
        <p:blipFill>
          <a:blip r:embed="rId3"/>
          <a:stretch>
            <a:fillRect/>
          </a:stretch>
        </p:blipFill>
        <p:spPr>
          <a:xfrm>
            <a:off x="3877054" y="771747"/>
            <a:ext cx="7298487" cy="5141260"/>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6" name="Picture 5">
            <a:extLst>
              <a:ext uri="{FF2B5EF4-FFF2-40B4-BE49-F238E27FC236}">
                <a16:creationId xmlns:a16="http://schemas.microsoft.com/office/drawing/2014/main" id="{80140C51-F95A-217A-5721-6C4966629DAE}"/>
              </a:ext>
            </a:extLst>
          </p:cNvPr>
          <p:cNvPicPr>
            <a:picLocks noChangeAspect="1"/>
          </p:cNvPicPr>
          <p:nvPr/>
        </p:nvPicPr>
        <p:blipFill>
          <a:blip r:embed="rId3"/>
          <a:stretch>
            <a:fillRect/>
          </a:stretch>
        </p:blipFill>
        <p:spPr>
          <a:xfrm>
            <a:off x="609599" y="1034840"/>
            <a:ext cx="10805652" cy="5499921"/>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295DD75-B276-EA3A-00B3-F7DD264F2637}"/>
              </a:ext>
            </a:extLst>
          </p:cNvPr>
          <p:cNvPicPr>
            <a:picLocks noChangeAspect="1"/>
          </p:cNvPicPr>
          <p:nvPr/>
        </p:nvPicPr>
        <p:blipFill>
          <a:blip r:embed="rId2"/>
          <a:stretch>
            <a:fillRect/>
          </a:stretch>
        </p:blipFill>
        <p:spPr>
          <a:xfrm>
            <a:off x="1153610" y="609981"/>
            <a:ext cx="9884779" cy="5638037"/>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7C0656EC-5190-7015-3F8D-1D4F6C09195D}"/>
              </a:ext>
            </a:extLst>
          </p:cNvPr>
          <p:cNvPicPr>
            <a:picLocks noChangeAspect="1"/>
          </p:cNvPicPr>
          <p:nvPr/>
        </p:nvPicPr>
        <p:blipFill>
          <a:blip r:embed="rId3"/>
          <a:stretch>
            <a:fillRect/>
          </a:stretch>
        </p:blipFill>
        <p:spPr>
          <a:xfrm>
            <a:off x="347240" y="1113977"/>
            <a:ext cx="11092405" cy="4930987"/>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000000"/>
          </a:xfrm>
          <a:prstGeom prst="rect">
            <a:avLst/>
          </a:prstGeom>
          <a:noFill/>
        </p:spPr>
        <p:txBody>
          <a:bodyPr wrap="square" rtlCol="0">
            <a:spAutoFit/>
          </a:bodyPr>
          <a:lstStyle/>
          <a:p>
            <a:pPr marL="0" indent="0">
              <a:spcBef>
                <a:spcPts val="0"/>
              </a:spcBef>
              <a:spcAft>
                <a:spcPts val="500"/>
              </a:spcAft>
              <a:buNone/>
            </a:pPr>
            <a:r>
              <a:rPr lang="en-US" sz="1600" b="1"/>
              <a:t>Role of Agentic AI in the Smart Farming Agent</a:t>
            </a:r>
          </a:p>
          <a:p>
            <a:pPr marL="0" indent="0">
              <a:spcBef>
                <a:spcPts val="0"/>
              </a:spcBef>
              <a:spcAft>
                <a:spcPts val="500"/>
              </a:spcAft>
              <a:buNone/>
            </a:pPr>
            <a:r>
              <a:rPr lang="en-US" sz="1600" b="1"/>
              <a:t>Agentic AI</a:t>
            </a:r>
            <a:r>
              <a:rPr lang="en-US" sz="1600" b="0"/>
              <a:t> turns the system from a simple chatbot into an autonomous farm assistant. An </a:t>
            </a:r>
            <a:r>
              <a:rPr lang="en-US" sz="1600" b="1"/>
              <a:t>Orchestrator Agent</a:t>
            </a:r>
            <a:r>
              <a:rPr lang="en-US" sz="1600" b="0"/>
              <a:t> reads the farmer's question and profile, decides which specialist agents are needed, and combines their answers.</a:t>
            </a:r>
          </a:p>
          <a:p>
            <a:pPr marL="0" indent="0">
              <a:spcBef>
                <a:spcPts val="0"/>
              </a:spcBef>
              <a:spcAft>
                <a:spcPts val="500"/>
              </a:spcAft>
              <a:buNone/>
            </a:pPr>
            <a:r>
              <a:rPr lang="en-US" sz="1600" b="0"/>
              <a:t>Each agent has one job: </a:t>
            </a:r>
            <a:r>
              <a:rPr lang="en-US" sz="1600" b="1"/>
              <a:t>Crop Advisory</a:t>
            </a:r>
            <a:r>
              <a:rPr lang="en-US" sz="1600" b="0"/>
              <a:t> retrieves knowledge (RAG), </a:t>
            </a:r>
            <a:r>
              <a:rPr lang="en-US" sz="1600" b="1"/>
              <a:t>Weather &amp; Irrigation</a:t>
            </a:r>
            <a:r>
              <a:rPr lang="en-US" sz="1600" b="0"/>
              <a:t> reads forecasts, </a:t>
            </a:r>
            <a:r>
              <a:rPr lang="en-US" sz="1600" b="1"/>
              <a:t>Pest Detection</a:t>
            </a:r>
            <a:r>
              <a:rPr lang="en-US" sz="1600" b="0"/>
              <a:t> diagnoses leaf photos, </a:t>
            </a:r>
            <a:r>
              <a:rPr lang="en-US" sz="1600" b="1"/>
              <a:t>Market Insights</a:t>
            </a:r>
            <a:r>
              <a:rPr lang="en-US" sz="1600" b="0"/>
              <a:t> tracks prices, and </a:t>
            </a:r>
            <a:r>
              <a:rPr lang="en-US" sz="1600" b="1"/>
              <a:t>Advisory</a:t>
            </a:r>
            <a:r>
              <a:rPr lang="en-US" sz="1600" b="0"/>
              <a:t> builds the season plan.</a:t>
            </a:r>
          </a:p>
          <a:p>
            <a:pPr marL="0" indent="0">
              <a:spcBef>
                <a:spcPts val="0"/>
              </a:spcBef>
              <a:spcAft>
                <a:spcPts val="500"/>
              </a:spcAft>
              <a:buNone/>
            </a:pPr>
            <a:r>
              <a:rPr lang="en-US" sz="1600" b="1"/>
              <a:t>Context awareness</a:t>
            </a:r>
            <a:r>
              <a:rPr lang="en-US" sz="1600" b="0"/>
              <a:t>: agents use the farmer's location, soil, crop, land size, and season, so advice is personal, not generic. Live weather and price data keep recommendations current, and answers are given in Hindi or English.</a:t>
            </a:r>
          </a:p>
          <a:p>
            <a:pPr marL="0" indent="0">
              <a:spcBef>
                <a:spcPts val="0"/>
              </a:spcBef>
              <a:spcAft>
                <a:spcPts val="0"/>
              </a:spcAft>
              <a:buNone/>
            </a:pPr>
            <a:r>
              <a:rPr lang="en-US" sz="1600" b="0"/>
              <a:t>Overall, Agentic AI makes the system </a:t>
            </a:r>
            <a:r>
              <a:rPr lang="en-US" sz="1600" b="1"/>
              <a:t>proactive and goal-driven</a:t>
            </a:r>
            <a:r>
              <a:rPr lang="en-US" sz="1600" b="0"/>
              <a:t>, like a digital agronomist available to every farmer.</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7" name="Picture 6">
            <a:extLst>
              <a:ext uri="{FF2B5EF4-FFF2-40B4-BE49-F238E27FC236}">
                <a16:creationId xmlns:a16="http://schemas.microsoft.com/office/drawing/2014/main" id="{02891722-00F1-725C-4534-2618F507E8BF}"/>
              </a:ext>
            </a:extLst>
          </p:cNvPr>
          <p:cNvPicPr>
            <a:picLocks noChangeAspect="1"/>
          </p:cNvPicPr>
          <p:nvPr/>
        </p:nvPicPr>
        <p:blipFill>
          <a:blip r:embed="rId3"/>
          <a:stretch>
            <a:fillRect/>
          </a:stretch>
        </p:blipFill>
        <p:spPr>
          <a:xfrm>
            <a:off x="1335024" y="1230585"/>
            <a:ext cx="9001074" cy="5253356"/>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4" name="Picture 3">
            <a:extLst>
              <a:ext uri="{FF2B5EF4-FFF2-40B4-BE49-F238E27FC236}">
                <a16:creationId xmlns:a16="http://schemas.microsoft.com/office/drawing/2014/main" id="{A28D1756-738B-AE96-A7CA-C3AB3831F4D2}"/>
              </a:ext>
            </a:extLst>
          </p:cNvPr>
          <p:cNvPicPr>
            <a:picLocks noChangeAspect="1"/>
          </p:cNvPicPr>
          <p:nvPr/>
        </p:nvPicPr>
        <p:blipFill>
          <a:blip r:embed="rId3"/>
          <a:stretch>
            <a:fillRect/>
          </a:stretch>
        </p:blipFill>
        <p:spPr>
          <a:xfrm>
            <a:off x="763929" y="1024007"/>
            <a:ext cx="10432648" cy="5411387"/>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D53BFF4B-13A9-8EFA-76C3-6DD5D0AF7E2B}"/>
              </a:ext>
            </a:extLst>
          </p:cNvPr>
          <p:cNvPicPr>
            <a:picLocks noChangeAspect="1"/>
          </p:cNvPicPr>
          <p:nvPr/>
        </p:nvPicPr>
        <p:blipFill>
          <a:blip r:embed="rId3"/>
          <a:stretch>
            <a:fillRect/>
          </a:stretch>
        </p:blipFill>
        <p:spPr>
          <a:xfrm>
            <a:off x="409144" y="940462"/>
            <a:ext cx="11231301" cy="5301166"/>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500000" cy="5200000"/>
          </a:xfrm>
          <a:prstGeom prst="rect">
            <a:avLst/>
          </a:prstGeom>
          <a:noFill/>
        </p:spPr>
        <p:txBody>
          <a:bodyPr wrap="square" rtlCol="0">
            <a:spAutoFit/>
          </a:bodyPr>
          <a:lstStyle/>
          <a:p>
            <a:pPr marL="0" indent="0">
              <a:spcBef>
                <a:spcPts val="0"/>
              </a:spcBef>
              <a:spcAft>
                <a:spcPts val="700"/>
              </a:spcAft>
              <a:buNone/>
            </a:pPr>
            <a:r>
              <a:rPr lang="en-US" sz="1800" b="0"/>
              <a:t>The Smart Farming AI Agent combines </a:t>
            </a:r>
            <a:r>
              <a:rPr lang="en-US" sz="1800" b="1"/>
              <a:t>multi-agent collaboration, RAG, and multimodal input</a:t>
            </a:r>
            <a:r>
              <a:rPr lang="en-US" sz="1800" b="0"/>
              <a:t> to give farmers advice that is personal, current, and trustworthy.</a:t>
            </a:r>
          </a:p>
          <a:p>
            <a:pPr marL="285750" indent="-285750">
              <a:spcBef>
                <a:spcPts val="0"/>
              </a:spcBef>
              <a:spcAft>
                <a:spcPts val="500"/>
              </a:spcAft>
              <a:buFont typeface="Arial"/>
              <a:buChar char="•"/>
            </a:pPr>
            <a:r>
              <a:rPr lang="en-US" sz="1800" b="1"/>
              <a:t>Multi-Agent Intelligence</a:t>
            </a:r>
            <a:r>
              <a:rPr lang="en-US" sz="1800" b="0"/>
              <a:t> – specialist agents for crop, weather, pest, and market, coordinated by an orchestrator.</a:t>
            </a:r>
          </a:p>
          <a:p>
            <a:pPr marL="285750" indent="-285750">
              <a:spcBef>
                <a:spcPts val="0"/>
              </a:spcBef>
              <a:spcAft>
                <a:spcPts val="500"/>
              </a:spcAft>
              <a:buFont typeface="Arial"/>
              <a:buChar char="•"/>
            </a:pPr>
            <a:r>
              <a:rPr lang="en-US" sz="1800" b="1"/>
              <a:t>RAG-Based Accuracy</a:t>
            </a:r>
            <a:r>
              <a:rPr lang="en-US" sz="1800" b="0"/>
              <a:t> – answers grounded in crop guides and government advisories, with source citations.</a:t>
            </a:r>
          </a:p>
          <a:p>
            <a:pPr marL="285750" indent="-285750">
              <a:spcBef>
                <a:spcPts val="0"/>
              </a:spcBef>
              <a:spcAft>
                <a:spcPts val="500"/>
              </a:spcAft>
              <a:buFont typeface="Arial"/>
              <a:buChar char="•"/>
            </a:pPr>
            <a:r>
              <a:rPr lang="en-US" sz="1800" b="1"/>
              <a:t>Multimodal Input</a:t>
            </a:r>
            <a:r>
              <a:rPr lang="en-US" sz="1800" b="0"/>
              <a:t> – farmers can type, speak, or upload a leaf photo for diagnosis.</a:t>
            </a:r>
          </a:p>
          <a:p>
            <a:pPr marL="285750" indent="-285750">
              <a:spcBef>
                <a:spcPts val="0"/>
              </a:spcBef>
              <a:spcAft>
                <a:spcPts val="500"/>
              </a:spcAft>
              <a:buFont typeface="Arial"/>
              <a:buChar char="•"/>
            </a:pPr>
            <a:r>
              <a:rPr lang="en-US" sz="1800" b="1"/>
              <a:t>Hindi &amp; English Support</a:t>
            </a:r>
            <a:r>
              <a:rPr lang="en-US" sz="1800" b="0"/>
              <a:t> – built for farmers who prefer their own language.</a:t>
            </a:r>
          </a:p>
          <a:p>
            <a:pPr marL="285750" indent="-285750">
              <a:spcBef>
                <a:spcPts val="0"/>
              </a:spcBef>
              <a:spcAft>
                <a:spcPts val="500"/>
              </a:spcAft>
              <a:buFont typeface="Arial"/>
              <a:buChar char="•"/>
            </a:pPr>
            <a:r>
              <a:rPr lang="en-US" sz="1800" b="1"/>
              <a:t>Hyper-Personalization</a:t>
            </a:r>
            <a:r>
              <a:rPr lang="en-US" sz="1800" b="0"/>
              <a:t> – advice based on location, soil, crop, land size, and season.</a:t>
            </a:r>
          </a:p>
          <a:p>
            <a:pPr marL="285750" indent="-285750">
              <a:spcBef>
                <a:spcPts val="0"/>
              </a:spcBef>
              <a:spcAft>
                <a:spcPts val="500"/>
              </a:spcAft>
              <a:buFont typeface="Arial"/>
              <a:buChar char="•"/>
            </a:pPr>
            <a:r>
              <a:rPr lang="en-US" sz="1800" b="1"/>
              <a:t>Safety First</a:t>
            </a:r>
            <a:r>
              <a:rPr lang="en-US" sz="1800" b="0"/>
              <a:t> – organic options first, disclaimers on chemical advice, and a fallback to the local KVK / Kisan Call Centre (1800-180-1551).</a:t>
            </a:r>
          </a:p>
          <a:p>
            <a:pPr marL="285750" indent="-285750">
              <a:spcBef>
                <a:spcPts val="0"/>
              </a:spcBef>
              <a:spcAft>
                <a:spcPts val="700"/>
              </a:spcAft>
              <a:buFont typeface="Arial"/>
              <a:buChar char="•"/>
            </a:pPr>
            <a:r>
              <a:rPr lang="en-US" sz="1800" b="1"/>
              <a:t>Enterprise-Ready</a:t>
            </a:r>
            <a:r>
              <a:rPr lang="en-US" sz="1800" b="0"/>
              <a:t> – IBM Granite on watsonx.ai with IBM Cloud deployment.</a:t>
            </a:r>
          </a:p>
          <a:p>
            <a:pPr marL="0" indent="0">
              <a:spcBef>
                <a:spcPts val="0"/>
              </a:spcBef>
              <a:spcAft>
                <a:spcPts val="0"/>
              </a:spcAft>
              <a:buNone/>
            </a:pPr>
            <a:r>
              <a:rPr lang="en-US" sz="1800" b="0"/>
              <a:t>This makes it a </a:t>
            </a:r>
            <a:r>
              <a:rPr lang="en-US" sz="1800" b="1"/>
              <a:t>smart, adaptive digital agronomist</a:t>
            </a:r>
            <a:r>
              <a:rPr lang="en-US" sz="1800" b="0"/>
              <a:t>, not just a static advisory tool.</a:t>
            </a:r>
          </a:p>
        </p:txBody>
      </p:sp>
    </p:spTree>
    <p:extLst>
      <p:ext uri="{BB962C8B-B14F-4D97-AF65-F5344CB8AC3E}">
        <p14:creationId xmlns:p14="http://schemas.microsoft.com/office/powerpoint/2010/main" val="232528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10000000" cy="4800000"/>
          </a:xfrm>
          <a:prstGeom prst="rect">
            <a:avLst/>
          </a:prstGeom>
          <a:noFill/>
          <a:ln>
            <a:noFill/>
          </a:ln>
        </p:spPr>
        <p:txBody>
          <a:bodyPr spcFirstLastPara="1" wrap="square" lIns="0" tIns="0" rIns="0" bIns="0" anchor="t" anchorCtr="0">
            <a:noAutofit/>
          </a:bodyPr>
          <a:lstStyle/>
          <a:p>
            <a:pPr marL="0" indent="0">
              <a:spcBef>
                <a:spcPts val="0"/>
              </a:spcBef>
              <a:spcAft>
                <a:spcPts val="600"/>
              </a:spcAft>
              <a:buNone/>
            </a:pPr>
            <a:r>
              <a:rPr lang="en-US" sz="1800" b="1" i="0" u="none" strike="noStrike" cap="none" dirty="0">
                <a:solidFill>
                  <a:srgbClr val="2B3541"/>
                </a:solidFill>
                <a:latin typeface="Times New Roman"/>
                <a:ea typeface="Times New Roman"/>
                <a:cs typeface="Times New Roman"/>
                <a:sym typeface="Times New Roman"/>
              </a:rPr>
              <a:t>GitHub Repository</a:t>
            </a:r>
          </a:p>
          <a:p>
            <a:pPr>
              <a:spcAft>
                <a:spcPts val="200"/>
              </a:spcAft>
            </a:pPr>
            <a:r>
              <a:rPr lang="en-US" dirty="0">
                <a:solidFill>
                  <a:srgbClr val="2B3541"/>
                </a:solidFill>
                <a:latin typeface="Times New Roman"/>
                <a:ea typeface="Times New Roman"/>
                <a:cs typeface="Times New Roman"/>
                <a:sym typeface="Times New Roman"/>
              </a:rPr>
              <a:t>https://github.com/Bhuvnesh2007/ai-farming</a:t>
            </a:r>
            <a:endParaRPr lang="en-US" sz="1400" b="0" i="0" u="none" strike="noStrike" cap="none" dirty="0">
              <a:solidFill>
                <a:srgbClr val="2B3541"/>
              </a:solidFill>
              <a:latin typeface="Times New Roman"/>
              <a:ea typeface="Times New Roman"/>
              <a:cs typeface="Times New Roman"/>
              <a:sym typeface="Times New Roman"/>
            </a:endParaRPr>
          </a:p>
          <a:p>
            <a:pPr marL="0" indent="0">
              <a:spcBef>
                <a:spcPts val="0"/>
              </a:spcBef>
              <a:spcAft>
                <a:spcPts val="400"/>
              </a:spcAft>
              <a:buNone/>
            </a:pPr>
            <a:r>
              <a:rPr lang="en-US" sz="1800" b="1" i="0" u="none" strike="noStrike" cap="none" dirty="0">
                <a:solidFill>
                  <a:srgbClr val="2B3541"/>
                </a:solidFill>
                <a:latin typeface="Times New Roman"/>
                <a:ea typeface="Times New Roman"/>
                <a:cs typeface="Times New Roman"/>
                <a:sym typeface="Times New Roman"/>
              </a:rPr>
              <a:t>The repository contains:</a:t>
            </a:r>
          </a:p>
          <a:p>
            <a:pPr marL="285750" indent="-285750">
              <a:spcBef>
                <a:spcPts val="0"/>
              </a:spcBef>
              <a:spcAft>
                <a:spcPts val="300"/>
              </a:spcAft>
              <a:buFont typeface="Arial"/>
              <a:buChar char="•"/>
            </a:pPr>
            <a:r>
              <a:rPr lang="en-US" sz="1800" b="0" i="0" u="none" strike="noStrike" cap="none" dirty="0">
                <a:solidFill>
                  <a:srgbClr val="2B3541"/>
                </a:solidFill>
                <a:latin typeface="Times New Roman"/>
                <a:ea typeface="Times New Roman"/>
                <a:cs typeface="Times New Roman"/>
                <a:sym typeface="Times New Roman"/>
              </a:rPr>
              <a:t>All agent files: backend/ (orchestrator and agents), frontend/app.py, scripts/, deployment/</a:t>
            </a:r>
          </a:p>
          <a:p>
            <a:pPr marL="285750" indent="-285750">
              <a:spcBef>
                <a:spcPts val="0"/>
              </a:spcBef>
              <a:spcAft>
                <a:spcPts val="300"/>
              </a:spcAft>
              <a:buFont typeface="Arial"/>
              <a:buChar char="•"/>
            </a:pPr>
            <a:r>
              <a:rPr lang="en-US" sz="1800" b="0" i="0" u="none" strike="noStrike" cap="none" dirty="0">
                <a:solidFill>
                  <a:srgbClr val="2B3541"/>
                </a:solidFill>
                <a:latin typeface="Times New Roman"/>
                <a:ea typeface="Times New Roman"/>
                <a:cs typeface="Times New Roman"/>
                <a:sym typeface="Times New Roman"/>
              </a:rPr>
              <a:t>Problem statement (PDF)</a:t>
            </a:r>
          </a:p>
          <a:p>
            <a:pPr marL="285750" indent="-285750">
              <a:spcBef>
                <a:spcPts val="0"/>
              </a:spcBef>
              <a:spcAft>
                <a:spcPts val="300"/>
              </a:spcAft>
              <a:buFont typeface="Arial"/>
              <a:buChar char="•"/>
            </a:pPr>
            <a:r>
              <a:rPr lang="en-US" sz="1800" b="0" i="0" u="none" strike="noStrike" cap="none" dirty="0">
                <a:solidFill>
                  <a:srgbClr val="2B3541"/>
                </a:solidFill>
                <a:latin typeface="Times New Roman"/>
                <a:ea typeface="Times New Roman"/>
                <a:cs typeface="Times New Roman"/>
                <a:sym typeface="Times New Roman"/>
              </a:rPr>
              <a:t>Project presentation (.pptx)</a:t>
            </a:r>
          </a:p>
          <a:p>
            <a:pPr marL="285750" indent="-285750">
              <a:spcBef>
                <a:spcPts val="0"/>
              </a:spcBef>
              <a:spcAft>
                <a:spcPts val="300"/>
              </a:spcAft>
              <a:buFont typeface="Arial"/>
              <a:buChar char="•"/>
            </a:pPr>
            <a:r>
              <a:rPr lang="en-US" sz="1800" b="0" i="0" u="none" strike="noStrike" cap="none" dirty="0">
                <a:solidFill>
                  <a:srgbClr val="2B3541"/>
                </a:solidFill>
                <a:latin typeface="Times New Roman"/>
                <a:ea typeface="Times New Roman"/>
                <a:cs typeface="Times New Roman"/>
                <a:sym typeface="Times New Roman"/>
              </a:rPr>
              <a:t>README with architecture, setup steps, and demo script</a:t>
            </a:r>
          </a:p>
          <a:p>
            <a:pPr marL="285750" indent="-285750">
              <a:spcBef>
                <a:spcPts val="0"/>
              </a:spcBef>
              <a:spcAft>
                <a:spcPts val="0"/>
              </a:spcAft>
              <a:buFont typeface="Arial"/>
              <a:buChar char="•"/>
            </a:pPr>
            <a:r>
              <a:rPr lang="en-US" sz="1800" b="0" i="0" u="none" strike="noStrike" cap="none" dirty="0">
                <a:solidFill>
                  <a:srgbClr val="2B3541"/>
                </a:solidFill>
                <a:latin typeface="Times New Roman"/>
                <a:ea typeface="Times New Roman"/>
                <a:cs typeface="Times New Roman"/>
                <a:sym typeface="Times New Roman"/>
              </a:rPr>
              <a:t>requirements.txt and .</a:t>
            </a:r>
            <a:r>
              <a:rPr lang="en-US" sz="1800" b="0" i="0" u="none" strike="noStrike" cap="none" dirty="0" err="1">
                <a:solidFill>
                  <a:srgbClr val="2B3541"/>
                </a:solidFill>
                <a:latin typeface="Times New Roman"/>
                <a:ea typeface="Times New Roman"/>
                <a:cs typeface="Times New Roman"/>
                <a:sym typeface="Times New Roman"/>
              </a:rPr>
              <a:t>env.example</a:t>
            </a:r>
            <a:r>
              <a:rPr lang="en-US" sz="1800" b="0" i="0" u="none" strike="noStrike" cap="none" dirty="0">
                <a:solidFill>
                  <a:srgbClr val="2B3541"/>
                </a:solidFill>
                <a:latin typeface="Times New Roman"/>
                <a:ea typeface="Times New Roman"/>
                <a:cs typeface="Times New Roman"/>
                <a:sym typeface="Times New Roman"/>
              </a:rPr>
              <a:t> (no secret keys)</a:t>
            </a:r>
          </a:p>
        </p:txBody>
      </p:sp>
    </p:spTree>
    <p:extLst>
      <p:ext uri="{BB962C8B-B14F-4D97-AF65-F5344CB8AC3E}">
        <p14:creationId xmlns:p14="http://schemas.microsoft.com/office/powerpoint/2010/main" val="404041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10000000" cy="4900000"/>
          </a:xfrm>
          <a:prstGeom prst="rect">
            <a:avLst/>
          </a:prstGeom>
          <a:noFill/>
          <a:ln>
            <a:noFill/>
          </a:ln>
        </p:spPr>
        <p:txBody>
          <a:bodyPr spcFirstLastPara="1" wrap="square" lIns="0" tIns="0" rIns="0" bIns="0" anchor="t" anchorCtr="0">
            <a:noAutofit/>
          </a:bodyPr>
          <a:lstStyle/>
          <a:p>
            <a:pPr marL="0" indent="0">
              <a:spcBef>
                <a:spcPts val="0"/>
              </a:spcBef>
              <a:spcAft>
                <a:spcPts val="200"/>
              </a:spcAft>
              <a:buNone/>
            </a:pPr>
            <a:r>
              <a:rPr lang="en-US" sz="1800" b="1" i="0" u="none" strike="noStrike" cap="none">
                <a:solidFill>
                  <a:srgbClr val="2B3541"/>
                </a:solidFill>
                <a:latin typeface="Times New Roman"/>
                <a:ea typeface="Times New Roman"/>
                <a:cs typeface="Times New Roman"/>
                <a:sym typeface="Times New Roman"/>
              </a:rPr>
              <a:t>1. IoT Sensors &amp; Satellite Data – </a:t>
            </a:r>
          </a:p>
          <a:p>
            <a:pPr marL="0" indent="0">
              <a:spcBef>
                <a:spcPts val="0"/>
              </a:spcBef>
              <a:spcAft>
                <a:spcPts val="900"/>
              </a:spcAft>
              <a:buNone/>
            </a:pPr>
            <a:r>
              <a:rPr lang="en-US" sz="1800" b="0" i="0" u="none" strike="noStrike" cap="none">
                <a:solidFill>
                  <a:srgbClr val="2B3541"/>
                </a:solidFill>
                <a:latin typeface="Times New Roman"/>
                <a:ea typeface="Times New Roman"/>
                <a:cs typeface="Times New Roman"/>
                <a:sym typeface="Times New Roman"/>
              </a:rPr>
              <a:t>Connect soil-moisture sensors, drones, and satellite imagery for field-level irrigation and crop-health alerts, so advice reacts to real conditions on each farm.</a:t>
            </a:r>
          </a:p>
          <a:p>
            <a:pPr marL="0" indent="0">
              <a:spcBef>
                <a:spcPts val="0"/>
              </a:spcBef>
              <a:spcAft>
                <a:spcPts val="200"/>
              </a:spcAft>
              <a:buNone/>
            </a:pPr>
            <a:r>
              <a:rPr lang="en-US" sz="1800" b="1" i="0" u="none" strike="noStrike" cap="none">
                <a:solidFill>
                  <a:srgbClr val="2B3541"/>
                </a:solidFill>
                <a:latin typeface="Times New Roman"/>
                <a:ea typeface="Times New Roman"/>
                <a:cs typeface="Times New Roman"/>
                <a:sym typeface="Times New Roman"/>
              </a:rPr>
              <a:t>2. Live Market &amp; Scheme Integration – </a:t>
            </a:r>
          </a:p>
          <a:p>
            <a:pPr marL="0" indent="0">
              <a:spcBef>
                <a:spcPts val="0"/>
              </a:spcBef>
              <a:spcAft>
                <a:spcPts val="900"/>
              </a:spcAft>
              <a:buNone/>
            </a:pPr>
            <a:r>
              <a:rPr lang="en-US" sz="1800" b="0" i="0" u="none" strike="noStrike" cap="none">
                <a:solidFill>
                  <a:srgbClr val="2B3541"/>
                </a:solidFill>
                <a:latin typeface="Times New Roman"/>
                <a:ea typeface="Times New Roman"/>
                <a:cs typeface="Times New Roman"/>
                <a:sym typeface="Times New Roman"/>
              </a:rPr>
              <a:t>Use live AgMarkNet / eNAM price feeds and match farmers automatically to PM-KISAN and other government schemes.</a:t>
            </a:r>
          </a:p>
          <a:p>
            <a:pPr marL="0" indent="0">
              <a:spcBef>
                <a:spcPts val="0"/>
              </a:spcBef>
              <a:spcAft>
                <a:spcPts val="200"/>
              </a:spcAft>
              <a:buNone/>
            </a:pPr>
            <a:r>
              <a:rPr lang="en-US" sz="1800" b="1" i="0" u="none" strike="noStrike" cap="none">
                <a:solidFill>
                  <a:srgbClr val="2B3541"/>
                </a:solidFill>
                <a:latin typeface="Times New Roman"/>
                <a:ea typeface="Times New Roman"/>
                <a:cs typeface="Times New Roman"/>
                <a:sym typeface="Times New Roman"/>
              </a:rPr>
              <a:t>3. More Regional Languages &amp; Offline Access – </a:t>
            </a:r>
          </a:p>
          <a:p>
            <a:pPr marL="0" indent="0">
              <a:spcBef>
                <a:spcPts val="0"/>
              </a:spcBef>
              <a:spcAft>
                <a:spcPts val="900"/>
              </a:spcAft>
              <a:buNone/>
            </a:pPr>
            <a:r>
              <a:rPr lang="en-US" sz="1800" b="0" i="0" u="none" strike="noStrike" cap="none">
                <a:solidFill>
                  <a:srgbClr val="2B3541"/>
                </a:solidFill>
                <a:latin typeface="Times New Roman"/>
                <a:ea typeface="Times New Roman"/>
                <a:cs typeface="Times New Roman"/>
                <a:sym typeface="Times New Roman"/>
              </a:rPr>
              <a:t>Add Punjabi, Marathi, Tamil, and more, with an Android / WhatsApp interface and a low-bandwidth mode for villages with weak connectivity.</a:t>
            </a:r>
          </a:p>
        </p:txBody>
      </p:sp>
    </p:spTree>
    <p:extLst>
      <p:ext uri="{BB962C8B-B14F-4D97-AF65-F5344CB8AC3E}">
        <p14:creationId xmlns:p14="http://schemas.microsoft.com/office/powerpoint/2010/main" val="74002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6FF03A66-F66D-9230-D360-41001C753652}"/>
              </a:ext>
            </a:extLst>
          </p:cNvPr>
          <p:cNvPicPr>
            <a:picLocks noChangeAspect="1"/>
          </p:cNvPicPr>
          <p:nvPr/>
        </p:nvPicPr>
        <p:blipFill>
          <a:blip r:embed="rId2"/>
          <a:stretch>
            <a:fillRect/>
          </a:stretch>
        </p:blipFill>
        <p:spPr>
          <a:xfrm>
            <a:off x="1666754" y="1367169"/>
            <a:ext cx="8495817" cy="5121084"/>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79C7944E-3712-95AF-F164-0312B4D6BF63}"/>
              </a:ext>
            </a:extLst>
          </p:cNvPr>
          <p:cNvPicPr>
            <a:picLocks noChangeAspect="1"/>
          </p:cNvPicPr>
          <p:nvPr/>
        </p:nvPicPr>
        <p:blipFill>
          <a:blip r:embed="rId2"/>
          <a:stretch>
            <a:fillRect/>
          </a:stretch>
        </p:blipFill>
        <p:spPr>
          <a:xfrm>
            <a:off x="1504766" y="1301440"/>
            <a:ext cx="8859515" cy="5330169"/>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1306</Words>
  <Application>Microsoft Office PowerPoint</Application>
  <PresentationFormat>Widescreen</PresentationFormat>
  <Paragraphs>109</Paragraphs>
  <Slides>19</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Bhavesh kumar Jangid</cp:lastModifiedBy>
  <cp:revision>25</cp:revision>
  <dcterms:created xsi:type="dcterms:W3CDTF">2025-07-08T05:06:56Z</dcterms:created>
  <dcterms:modified xsi:type="dcterms:W3CDTF">2026-10-07T08:28:11Z</dcterms:modified>
</cp:coreProperties>
</file>